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60" r:id="rId5"/>
    <p:sldId id="277" r:id="rId6"/>
    <p:sldId id="267" r:id="rId7"/>
    <p:sldId id="281" r:id="rId8"/>
    <p:sldId id="290" r:id="rId9"/>
    <p:sldId id="291" r:id="rId10"/>
    <p:sldId id="292" r:id="rId11"/>
    <p:sldId id="278" r:id="rId12"/>
    <p:sldId id="28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A6FE26B-92FC-4C16-67AA-1A116FC9C3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68F13E-2E9E-27AC-80B5-F8121791D0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C64BE-BF9A-4B9D-9122-A951F06D4DD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AFA5FB-AD50-DE94-BFDF-085BC118AC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953536-5BB4-92EC-6026-83CE3FC8CA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1E34-EECA-47D7-B17F-D19DF3B38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358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932A9-4259-4D8B-81C0-015CC0626F3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A8BDA-70AC-480F-BF24-D24C409E4A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6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present the design and scope of the Onboarding Digital Coworker. The core idea: the Coworker chases information and prepares the case; people decide and approve. Business owner: Tonya Ramirez.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A8BDA-70AC-480F-BF24-D24C409E4A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97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line per checkpoint point. The full answers are in the checkpoint document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A8BDA-70AC-480F-BF24-D24C409E4A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10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Today the start notes are optional and arrive blank, so onboarding chases data afterwards. Targets: document onboarding from about 3 days to 1 to 1.5 days in the pilot, zero cases with gaps and no alert, a package in 5 minutes and no action without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A8BDA-70AC-480F-BF24-D24C409E4A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658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Nine Must capabilities make up the demo. Should items are built only if the Must items are stable; Could items stay for the pilot. Access and equipment is a Should.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A8BDA-70AC-480F-BF24-D24C409E4A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91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Today gaps are found once onboarding already has the case. With the Coworker, validation happens at the start and every action waits for human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A8BDA-70AC-480F-BF24-D24C409E4A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07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users it is one Coworker. Inside, an orchestrator splits the work across specialized agents that share one context. At least three agents collaborate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A8BDA-70AC-480F-BF24-D24C409E4A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855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Velocity 2.0 has no chat interface, so we build a light local web app with five views. The Coworker never writes to JobDiva; the sandbox is a read-only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A8BDA-70AC-480F-BF24-D24C409E4A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84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People keep every decision that creates a record, grants access or touches employment law. The Coworker prepares, recommends, cites and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A8BDA-70AC-480F-BF24-D24C409E4A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314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Biggest risk: the 8-day timeline. If the foundations are not ready by October 16, the extensions are dropped and all time goes to J1 and J2.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A8BDA-70AC-480F-BF24-D24C409E4A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1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png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A4A44151-2892-F304-C01E-77D4F78A55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7659" y="1539875"/>
            <a:ext cx="6895381" cy="2396964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7D2FF1A3-36F2-9649-43D1-97841E95E4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6648" y="4341230"/>
            <a:ext cx="4858703" cy="358192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BC282568-4598-2095-3823-F35D44AF90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5648" y="5103813"/>
            <a:ext cx="2120704" cy="53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230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2A2C6-2EF8-F0A0-D45E-304E82E4EB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8250" y="1117600"/>
            <a:ext cx="7000875" cy="1325563"/>
          </a:xfrm>
        </p:spPr>
        <p:txBody>
          <a:bodyPr anchor="b"/>
          <a:lstStyle>
            <a:lvl1pPr>
              <a:defRPr b="1" i="1"/>
            </a:lvl1pPr>
          </a:lstStyle>
          <a:p>
            <a:r>
              <a:rPr lang="es-MX"/>
              <a:t>TITLE HERE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8DF44F-859B-4B28-5C98-B55A13EF2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0" y="2654300"/>
            <a:ext cx="7000875" cy="367982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A9AF80B-4691-2F4D-D1FC-6166436311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9847" y="675363"/>
            <a:ext cx="1495191" cy="379808"/>
          </a:xfrm>
          <a:prstGeom prst="rect">
            <a:avLst/>
          </a:prstGeom>
        </p:spPr>
      </p:pic>
      <p:sp>
        <p:nvSpPr>
          <p:cNvPr id="10" name="Marcador de posición de imagen 2">
            <a:extLst>
              <a:ext uri="{FF2B5EF4-FFF2-40B4-BE49-F238E27FC236}">
                <a16:creationId xmlns:a16="http://schemas.microsoft.com/office/drawing/2014/main" id="{0DF9C4F1-8AF3-26FC-5DFF-0677B3BA5A0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595360" y="1117600"/>
            <a:ext cx="2334259" cy="5216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A013E8C-79AB-171A-C201-9F6AB2FA9A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9847" y="5992732"/>
            <a:ext cx="1508061" cy="37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295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2A2C6-2EF8-F0A0-D45E-304E82E4EB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8250" y="1117600"/>
            <a:ext cx="7000875" cy="1325563"/>
          </a:xfrm>
        </p:spPr>
        <p:txBody>
          <a:bodyPr anchor="b"/>
          <a:lstStyle>
            <a:lvl1pPr>
              <a:defRPr b="1" i="1"/>
            </a:lvl1pPr>
          </a:lstStyle>
          <a:p>
            <a:r>
              <a:rPr lang="es-MX"/>
              <a:t>TITLE HERE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8DF44F-859B-4B28-5C98-B55A13EF2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0" y="2654300"/>
            <a:ext cx="7000875" cy="367982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2" name="Marcador de posición de imagen 2">
            <a:extLst>
              <a:ext uri="{FF2B5EF4-FFF2-40B4-BE49-F238E27FC236}">
                <a16:creationId xmlns:a16="http://schemas.microsoft.com/office/drawing/2014/main" id="{4B50EAD5-35CC-72EF-3CF4-C74C514F3D43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595360" y="1117600"/>
            <a:ext cx="2334259" cy="5216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3718F2B-2764-8014-74C8-420A261251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9847" y="675363"/>
            <a:ext cx="1495191" cy="379808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4E3DB6DB-36FA-AC2E-4E68-669E270667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9847" y="5992732"/>
            <a:ext cx="1508061" cy="37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26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2A2C6-2EF8-F0A0-D45E-304E82E4EB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8250" y="1117600"/>
            <a:ext cx="7000875" cy="1325563"/>
          </a:xfrm>
        </p:spPr>
        <p:txBody>
          <a:bodyPr anchor="b"/>
          <a:lstStyle>
            <a:lvl1pPr>
              <a:defRPr sz="4400" b="1" i="1"/>
            </a:lvl1pPr>
          </a:lstStyle>
          <a:p>
            <a:r>
              <a:rPr lang="es-MX"/>
              <a:t>TITLE HERE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8DF44F-859B-4B28-5C98-B55A13EF2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8250" y="2654300"/>
            <a:ext cx="7000875" cy="3679825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FC394222-3C8A-5298-3E8E-E164C02E9F12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595360" y="1117600"/>
            <a:ext cx="2334259" cy="5216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6A6F2E26-1E4A-B09E-A524-82EA73DB2D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9847" y="675363"/>
            <a:ext cx="1495191" cy="379808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376AEE91-FD60-6242-0991-6DBC48B846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9847" y="5992732"/>
            <a:ext cx="1508061" cy="37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565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E750484-F2C9-6D68-D6D8-F069C7D582DD}"/>
              </a:ext>
            </a:extLst>
          </p:cNvPr>
          <p:cNvSpPr/>
          <p:nvPr userDrawn="1"/>
        </p:nvSpPr>
        <p:spPr>
          <a:xfrm>
            <a:off x="0" y="2081719"/>
            <a:ext cx="12192000" cy="477628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2BCD5A-6E52-7FD9-A190-A80B95379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600" b="1" i="1" kern="1200" dirty="0">
                <a:solidFill>
                  <a:schemeClr val="bg1"/>
                </a:solidFill>
                <a:latin typeface="+mj-lt"/>
                <a:ea typeface="Inter Light" panose="02000503000000020004" pitchFamily="2" charset="0"/>
                <a:cs typeface="Chakra Petch SemiBold" panose="00000700000000000000" pitchFamily="2" charset="-34"/>
              </a:defRPr>
            </a:lvl1pPr>
          </a:lstStyle>
          <a:p>
            <a:r>
              <a:rPr lang="es-MX"/>
              <a:t>TITLE SECTION HERE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4A6DBF-458A-F672-1C5D-DE7128D8E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AB0B0378-7A21-301F-FBE5-1E356D66F7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3642" y="675363"/>
            <a:ext cx="1493808" cy="379456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33460AFD-90EF-D92D-D15D-1910E0CAC9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9388" y="5949231"/>
            <a:ext cx="1364411" cy="34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49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2BCD5A-6E52-7FD9-A190-A80B95379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5192" y="1438813"/>
            <a:ext cx="5608608" cy="2852737"/>
          </a:xfrm>
        </p:spPr>
        <p:txBody>
          <a:bodyPr anchor="b">
            <a:normAutofit/>
          </a:bodyPr>
          <a:lstStyle>
            <a:lvl1pPr>
              <a:defRPr lang="en-US" sz="4000" b="1" i="1" kern="1200" dirty="0">
                <a:solidFill>
                  <a:schemeClr val="bg1"/>
                </a:solidFill>
                <a:latin typeface="+mj-lt"/>
                <a:ea typeface="Inter Light" panose="02000503000000020004" pitchFamily="2" charset="0"/>
                <a:cs typeface="Chakra Petch SemiBold" panose="00000700000000000000" pitchFamily="2" charset="-34"/>
              </a:defRPr>
            </a:lvl1pPr>
          </a:lstStyle>
          <a:p>
            <a:r>
              <a:rPr lang="es-MX"/>
              <a:t>TITLE SECTION HERE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4A6DBF-458A-F672-1C5D-DE7128D8E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45192" y="4318538"/>
            <a:ext cx="5608608" cy="1500187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07A9B9E-C6BD-B5D0-A3C6-94B5BA3E56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9633" y="638355"/>
            <a:ext cx="1670159" cy="58057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0380C4DD-36CE-FC90-0000-1BBE7FC45C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9388" y="5949231"/>
            <a:ext cx="1364411" cy="34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22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4A6DBF-458A-F672-1C5D-DE7128D8E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4666" y="3105509"/>
            <a:ext cx="9123333" cy="223819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BF4CFFF-D1FE-4495-3E76-EB9913EB6B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2011" y="989565"/>
            <a:ext cx="3015117" cy="104946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DC1199C-782C-3623-363B-FCC8AF825E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4224" y="2660828"/>
            <a:ext cx="4543552" cy="332538"/>
          </a:xfrm>
          <a:prstGeom prst="rect">
            <a:avLst/>
          </a:prstGeom>
        </p:spPr>
      </p:pic>
      <p:pic>
        <p:nvPicPr>
          <p:cNvPr id="10" name="Imagen 9" descr="Logotipo&#10;&#10;El contenido generado por IA puede ser incorrecto.">
            <a:extLst>
              <a:ext uri="{FF2B5EF4-FFF2-40B4-BE49-F238E27FC236}">
                <a16:creationId xmlns:a16="http://schemas.microsoft.com/office/drawing/2014/main" id="{AC6BBEE4-ED3A-3546-2664-D70B8EC0C7A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145929" y="5868435"/>
            <a:ext cx="1900142" cy="47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53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D18DB29F-327D-A21A-9052-5E4D6251F2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3871" y="4767227"/>
            <a:ext cx="2302674" cy="800453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66DF7D02-C49F-F1EA-3FFD-1DED34E32C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4575" y="2704182"/>
            <a:ext cx="5945505" cy="1449635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63C8A737-A55B-4108-773E-EEB1A8AFB5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1248" y="4899959"/>
            <a:ext cx="2120704" cy="53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971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245F2-471C-AE30-E836-4579C172A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01040"/>
            <a:ext cx="5735320" cy="1142048"/>
          </a:xfrm>
        </p:spPr>
        <p:txBody>
          <a:bodyPr anchor="b"/>
          <a:lstStyle>
            <a:lvl1pPr>
              <a:defRPr sz="4000" b="1" i="1">
                <a:solidFill>
                  <a:schemeClr val="bg1"/>
                </a:solidFill>
              </a:defRPr>
            </a:lvl1pPr>
          </a:lstStyle>
          <a:p>
            <a:r>
              <a:rPr lang="es-MX"/>
              <a:t>TITLE HERE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1F9561-02E2-C31B-0DFE-FADFFF055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002530"/>
            <a:ext cx="5735320" cy="3748925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6DD252D-3C48-E560-DB52-0E0E7AD9B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5967232"/>
            <a:ext cx="1493808" cy="379456"/>
          </a:xfrm>
          <a:prstGeom prst="rect">
            <a:avLst/>
          </a:prstGeom>
        </p:spPr>
      </p:pic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8025BF93-BE0B-CD7E-47BC-53421BE9E26C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028228" y="701040"/>
            <a:ext cx="4632385" cy="50504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AA963506-3136-AC70-C5C5-24A4B32FE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9388" y="5949231"/>
            <a:ext cx="1364411" cy="34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730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1855B601-ADF8-1894-57B7-558C46AC5EF1}"/>
              </a:ext>
            </a:extLst>
          </p:cNvPr>
          <p:cNvSpPr/>
          <p:nvPr userDrawn="1"/>
        </p:nvSpPr>
        <p:spPr>
          <a:xfrm rot="16200000">
            <a:off x="3924590" y="-1409410"/>
            <a:ext cx="6858000" cy="9676820"/>
          </a:xfrm>
          <a:prstGeom prst="rect">
            <a:avLst/>
          </a:prstGeom>
          <a:gradFill flip="none" rotWithShape="1">
            <a:gsLst>
              <a:gs pos="27000">
                <a:srgbClr val="000000">
                  <a:alpha val="0"/>
                </a:srgbClr>
              </a:gs>
              <a:gs pos="100000">
                <a:srgbClr val="000000">
                  <a:alpha val="51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388186-12BF-A681-8C12-947D5408C7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2200" y="1222101"/>
            <a:ext cx="5181600" cy="1325563"/>
          </a:xfrm>
        </p:spPr>
        <p:txBody>
          <a:bodyPr anchor="b"/>
          <a:lstStyle>
            <a:lvl1pPr>
              <a:defRPr sz="4000" b="1" i="1">
                <a:solidFill>
                  <a:schemeClr val="bg1"/>
                </a:solidFill>
              </a:defRPr>
            </a:lvl1pPr>
          </a:lstStyle>
          <a:p>
            <a:r>
              <a:rPr lang="es-MX"/>
              <a:t>TITLE HERE</a:t>
            </a:r>
            <a:endParaRPr lang="en-US"/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05A2CF92-6CE9-42BA-89E9-9B03FD130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6720" y="370840"/>
            <a:ext cx="4632385" cy="6116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0BF12664-635A-CB1D-2474-8E07CC98CB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9992" y="675363"/>
            <a:ext cx="1493808" cy="379456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274B7FB5-D111-14F2-1D7D-9C993EEB03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9388" y="5949231"/>
            <a:ext cx="1364411" cy="34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9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a de flujo: datos 5">
            <a:extLst>
              <a:ext uri="{FF2B5EF4-FFF2-40B4-BE49-F238E27FC236}">
                <a16:creationId xmlns:a16="http://schemas.microsoft.com/office/drawing/2014/main" id="{23A20B60-62F0-CDE7-53DF-4C3C6E7EBB28}"/>
              </a:ext>
            </a:extLst>
          </p:cNvPr>
          <p:cNvSpPr/>
          <p:nvPr userDrawn="1"/>
        </p:nvSpPr>
        <p:spPr>
          <a:xfrm>
            <a:off x="4343400" y="-1"/>
            <a:ext cx="9850120" cy="6858000"/>
          </a:xfrm>
          <a:prstGeom prst="flowChartInputOutp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388186-12BF-A681-8C12-947D5408C7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2200" y="1222101"/>
            <a:ext cx="5181600" cy="1325563"/>
          </a:xfrm>
        </p:spPr>
        <p:txBody>
          <a:bodyPr anchor="b"/>
          <a:lstStyle>
            <a:lvl1pPr>
              <a:defRPr sz="4000" b="1" i="1">
                <a:solidFill>
                  <a:schemeClr val="bg1"/>
                </a:solidFill>
              </a:defRPr>
            </a:lvl1pPr>
          </a:lstStyle>
          <a:p>
            <a:r>
              <a:rPr lang="es-MX"/>
              <a:t>TITLE HERE</a:t>
            </a:r>
            <a:endParaRPr lang="en-US"/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05A2CF92-6CE9-42BA-89E9-9B03FD130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6720" y="370840"/>
            <a:ext cx="4632385" cy="6116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DE38B3A0-0911-D84F-1A33-94E86A2D37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9992" y="675363"/>
            <a:ext cx="1493808" cy="379456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37B69DA0-B913-63D2-9A7A-49BA2BE2A7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9388" y="5949231"/>
            <a:ext cx="1364411" cy="34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453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510CC-0B29-6A4F-E327-1CC571D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82655" y="1356984"/>
            <a:ext cx="5608608" cy="1325563"/>
          </a:xfrm>
        </p:spPr>
        <p:txBody>
          <a:bodyPr anchor="b"/>
          <a:lstStyle>
            <a:lvl1pPr>
              <a:defRPr b="1" i="1">
                <a:solidFill>
                  <a:schemeClr val="bg1"/>
                </a:solidFill>
              </a:defRPr>
            </a:lvl1pPr>
          </a:lstStyle>
          <a:p>
            <a:r>
              <a:rPr lang="es-MX"/>
              <a:t>TITLE HERE</a:t>
            </a:r>
            <a:endParaRPr lang="en-US"/>
          </a:p>
        </p:txBody>
      </p:sp>
      <p:sp>
        <p:nvSpPr>
          <p:cNvPr id="10" name="Marcador de posición de imagen 2">
            <a:extLst>
              <a:ext uri="{FF2B5EF4-FFF2-40B4-BE49-F238E27FC236}">
                <a16:creationId xmlns:a16="http://schemas.microsoft.com/office/drawing/2014/main" id="{E94C0D7C-400A-EB14-0DEB-CD3C405BB1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4632385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D008123C-8681-FEF9-6F69-08C587A99B7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582655" y="2774410"/>
            <a:ext cx="5608608" cy="1500187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CBD70C46-2C7B-EE7E-D4A3-AEC081167D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9992" y="675363"/>
            <a:ext cx="1493808" cy="379456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077D866B-EE9C-5C48-3D17-0477C2644D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89388" y="5949231"/>
            <a:ext cx="1364411" cy="34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210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2">
            <a:extLst>
              <a:ext uri="{FF2B5EF4-FFF2-40B4-BE49-F238E27FC236}">
                <a16:creationId xmlns:a16="http://schemas.microsoft.com/office/drawing/2014/main" id="{D5362A1C-1FC5-F192-FEDD-6F2F9616CE2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12573" y="2037539"/>
            <a:ext cx="2414824" cy="2782921"/>
          </a:xfrm>
        </p:spPr>
        <p:txBody>
          <a:bodyPr/>
          <a:lstStyle/>
          <a:p>
            <a:endParaRPr lang="en-ID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C2379316-94CC-7493-3E2B-2E99C802BE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8681" y="2037539"/>
            <a:ext cx="2414824" cy="2782921"/>
          </a:xfrm>
        </p:spPr>
        <p:txBody>
          <a:bodyPr/>
          <a:lstStyle/>
          <a:p>
            <a:endParaRPr lang="en-ID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D917C419-7607-F916-F330-BB428EA7AB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15627" y="2037539"/>
            <a:ext cx="2414824" cy="2782921"/>
          </a:xfrm>
        </p:spPr>
        <p:txBody>
          <a:bodyPr/>
          <a:lstStyle/>
          <a:p>
            <a:endParaRPr lang="en-ID"/>
          </a:p>
        </p:txBody>
      </p:sp>
      <p:sp>
        <p:nvSpPr>
          <p:cNvPr id="8" name="Picture Placeholder 28">
            <a:extLst>
              <a:ext uri="{FF2B5EF4-FFF2-40B4-BE49-F238E27FC236}">
                <a16:creationId xmlns:a16="http://schemas.microsoft.com/office/drawing/2014/main" id="{E885AA7E-DBDC-1BDC-07CF-83560C49DC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09519" y="2037539"/>
            <a:ext cx="2414824" cy="2782921"/>
          </a:xfrm>
        </p:spPr>
        <p:txBody>
          <a:bodyPr/>
          <a:lstStyle/>
          <a:p>
            <a:endParaRPr lang="en-ID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6872BB6B-846A-1E84-FECE-62A4D069B8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8681" y="700202"/>
            <a:ext cx="10805662" cy="1142048"/>
          </a:xfrm>
        </p:spPr>
        <p:txBody>
          <a:bodyPr anchor="b"/>
          <a:lstStyle>
            <a:lvl1pPr algn="ctr">
              <a:defRPr sz="4000" b="1" i="1">
                <a:solidFill>
                  <a:schemeClr val="bg1"/>
                </a:solidFill>
              </a:defRPr>
            </a:lvl1pPr>
          </a:lstStyle>
          <a:p>
            <a:r>
              <a:rPr lang="es-MX"/>
              <a:t>TEAM #1 HERE</a:t>
            </a:r>
            <a:endParaRPr lang="en-U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1F83523-88AE-3522-3072-FF3685BC88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535" y="675363"/>
            <a:ext cx="1493808" cy="379456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1C49A735-F26A-0D2C-4836-E9C1117731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681" y="675363"/>
            <a:ext cx="1364411" cy="34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353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6D933F-2280-4252-23A5-553BDD650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6FE43E-C0E5-6D41-26D4-60AA07348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369C43-33D5-2415-246F-610B20244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FC6709-3463-9A7F-93C1-F62C610A4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25605-6819-4A3D-9967-E641E938BF8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97888D-3051-E140-159D-C772D32C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C18751-1555-3C98-4C8A-9B93A8597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6A9A7-AF7A-469D-9AFC-CFDC7004D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233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D8667-17A6-28DF-1A5C-BCD45D159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 b="1" i="1"/>
            </a:lvl1pPr>
          </a:lstStyle>
          <a:p>
            <a:r>
              <a:rPr lang="es-MX"/>
              <a:t>TITLE HERE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F527789-51ED-2D61-23FA-5FB6DFDBC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D5811C-F330-F1F8-DEEC-C9587DEC5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D2E1FA8F-0F35-04E7-EFEE-07772268DA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7021" y="675363"/>
            <a:ext cx="1495191" cy="379808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2811FA33-4180-22B3-027D-9D86EF4369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9847" y="5992732"/>
            <a:ext cx="1508061" cy="37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88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4520C-1F57-946C-BD9F-B8C097D45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01040"/>
            <a:ext cx="5735320" cy="1142048"/>
          </a:xfrm>
        </p:spPr>
        <p:txBody>
          <a:bodyPr anchor="b"/>
          <a:lstStyle>
            <a:lvl1pPr>
              <a:defRPr sz="4000" b="1" i="1">
                <a:solidFill>
                  <a:schemeClr val="bg1"/>
                </a:solidFill>
              </a:defRPr>
            </a:lvl1pPr>
          </a:lstStyle>
          <a:p>
            <a:r>
              <a:rPr lang="es-MX"/>
              <a:t>TITLE HERE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53CBE7-0225-AB87-AA01-B336F4C47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002530"/>
            <a:ext cx="5735320" cy="3748925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400BF394-111A-80D0-908A-76D25C8E269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071360" y="701040"/>
            <a:ext cx="4632385" cy="50504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CD0D9DF-F144-BB7D-17DA-5ACB28C3EF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5967232"/>
            <a:ext cx="1493808" cy="379456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DF02253E-450E-9D18-9082-DCC7BDDB1A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511312"/>
            <a:ext cx="1364411" cy="34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149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4520C-1F57-946C-BD9F-B8C097D45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086927"/>
            <a:ext cx="5735320" cy="844521"/>
          </a:xfrm>
        </p:spPr>
        <p:txBody>
          <a:bodyPr anchor="b"/>
          <a:lstStyle>
            <a:lvl1pPr>
              <a:defRPr sz="4000" b="1" i="1">
                <a:solidFill>
                  <a:schemeClr val="tx1"/>
                </a:solidFill>
              </a:defRPr>
            </a:lvl1pPr>
          </a:lstStyle>
          <a:p>
            <a:r>
              <a:rPr lang="es-MX"/>
              <a:t>TITLE HERE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53CBE7-0225-AB87-AA01-B336F4C47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090891"/>
            <a:ext cx="5735320" cy="3748925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18459E65-523A-E902-61EE-0D2D0DBEA3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6035891"/>
            <a:ext cx="1495191" cy="379808"/>
          </a:xfrm>
          <a:prstGeom prst="rect">
            <a:avLst/>
          </a:prstGeom>
        </p:spPr>
      </p:pic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100BD555-E780-1525-6FE0-989AD619058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071360" y="789401"/>
            <a:ext cx="4632385" cy="50504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C631ACA0-1B7D-F3D0-D31A-59EDB0A48F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79847" y="5992732"/>
            <a:ext cx="1508061" cy="37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2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FB4DE5D-5E40-107C-93C4-7BCD96C05D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31333F-49BD-AA1D-E2A0-A2E3B966E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F636D4-0573-1F94-F17F-D1B048BF4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25605-6819-4A3D-9967-E641E938BF8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03EDC4-5CDA-C14C-1E69-4C917BD6E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E5FB2D-AD97-9065-23B2-D82F27F17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6A9A7-AF7A-469D-9AFC-CFDC7004D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60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3FB9BB99-1EDE-0AC3-277C-1857CD082B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6743" y="2442528"/>
            <a:ext cx="8418513" cy="156240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C100DC6C-283E-38DB-FDFC-4710C38980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488089"/>
            <a:ext cx="2021844" cy="70283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1A74108-DB84-41F3-A71A-74E41FB119D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379" y="4471956"/>
            <a:ext cx="2233440" cy="60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B99BB18-D56D-615C-3913-F7D1EE8E5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B2D14C-3B53-7B1F-3A51-349DC6D47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7B6694-2A32-7FDB-1FA2-ABA0DF758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25605-6819-4A3D-9967-E641E938BF8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A8CAD9-AA84-6ECE-1A92-595A203C8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90A2AD-BA5C-DF59-FA0C-5C55C9E62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6A9A7-AF7A-469D-9AFC-CFDC7004D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6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51" r:id="rId5"/>
    <p:sldLayoutId id="2147483664" r:id="rId6"/>
    <p:sldLayoutId id="2147483665" r:id="rId7"/>
    <p:sldLayoutId id="2147483662" r:id="rId8"/>
    <p:sldLayoutId id="2147483667" r:id="rId9"/>
    <p:sldLayoutId id="2147483652" r:id="rId10"/>
    <p:sldLayoutId id="2147483666" r:id="rId11"/>
    <p:sldLayoutId id="2147483653" r:id="rId12"/>
    <p:sldLayoutId id="2147483654" r:id="rId13"/>
    <p:sldLayoutId id="2147483656" r:id="rId14"/>
    <p:sldLayoutId id="2147483657" r:id="rId15"/>
    <p:sldLayoutId id="2147483658" r:id="rId16"/>
    <p:sldLayoutId id="2147483663" r:id="rId17"/>
    <p:sldLayoutId id="2147483659" r:id="rId18"/>
    <p:sldLayoutId id="2147483655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1AE9F-D015-187A-923B-C025BDD93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70000"/>
            <a:ext cx="10515600" cy="2222500"/>
          </a:xfrm>
        </p:spPr>
        <p:txBody>
          <a:bodyPr anchor="b">
            <a:noAutofit/>
          </a:bodyPr>
          <a:lstStyle/>
          <a:p>
            <a:r>
              <a:rPr lang="es-CO"/>
              <a:t>Onboarding Coworker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E60B13-2A3B-DEC8-D2B4-F4391B14C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7817475" cy="1414948"/>
          </a:xfrm>
        </p:spPr>
        <p:txBody>
          <a:bodyPr>
            <a:normAutofit/>
          </a:bodyPr>
          <a:lstStyle/>
          <a:p>
            <a:r>
              <a:rPr lang="en-US"/>
              <a:t>Checkpoint deliverable · October 14, 2026</a:t>
            </a:r>
          </a:p>
          <a:p>
            <a:r>
              <a:rPr lang="en-US"/>
              <a:t>It chases the information; people decide and approve.</a:t>
            </a:r>
            <a:endParaRPr lang="en-US" sz="1800"/>
          </a:p>
        </p:txBody>
      </p:sp>
      <p:grpSp>
        <p:nvGrpSpPr>
          <p:cNvPr id="15" name="Group 26">
            <a:extLst>
              <a:ext uri="{FF2B5EF4-FFF2-40B4-BE49-F238E27FC236}">
                <a16:creationId xmlns:a16="http://schemas.microsoft.com/office/drawing/2014/main" id="{F619DAC7-2DE1-A6F1-03F5-F5B7FC202D8C}"/>
              </a:ext>
            </a:extLst>
          </p:cNvPr>
          <p:cNvGrpSpPr/>
          <p:nvPr/>
        </p:nvGrpSpPr>
        <p:grpSpPr>
          <a:xfrm>
            <a:off x="980679" y="3660237"/>
            <a:ext cx="5529849" cy="496996"/>
            <a:chOff x="5047901" y="479910"/>
            <a:chExt cx="5529849" cy="496996"/>
          </a:xfrm>
        </p:grpSpPr>
        <p:sp>
          <p:nvSpPr>
            <p:cNvPr id="16" name="TextBox 24">
              <a:extLst>
                <a:ext uri="{FF2B5EF4-FFF2-40B4-BE49-F238E27FC236}">
                  <a16:creationId xmlns:a16="http://schemas.microsoft.com/office/drawing/2014/main" id="{7D778988-0734-9099-866B-0AE694A1F6D9}"/>
                </a:ext>
              </a:extLst>
            </p:cNvPr>
            <p:cNvSpPr txBox="1"/>
            <p:nvPr/>
          </p:nvSpPr>
          <p:spPr>
            <a:xfrm>
              <a:off x="5577730" y="479910"/>
              <a:ext cx="5000020" cy="496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spc="300">
                  <a:solidFill>
                    <a:schemeClr val="bg1"/>
                  </a:solidFill>
                  <a:ea typeface="Inter" panose="02000503000000020004" pitchFamily="2" charset="0"/>
                  <a:cs typeface="Sora" pitchFamily="2" charset="0"/>
                </a:rPr>
                <a:t>Velocity for Enterprise Agents</a:t>
              </a:r>
              <a:r>
                <a:rPr lang="en-US" sz="2000" spc="300" noProof="0">
                  <a:solidFill>
                    <a:schemeClr val="bg1"/>
                  </a:solidFill>
                  <a:latin typeface="+mn-lt"/>
                  <a:ea typeface="Inter" panose="02000503000000020004" pitchFamily="2" charset="0"/>
                  <a:cs typeface="Sora" pitchFamily="2" charset="0"/>
                </a:rPr>
                <a:t> </a:t>
              </a:r>
            </a:p>
          </p:txBody>
        </p:sp>
        <p:cxnSp>
          <p:nvCxnSpPr>
            <p:cNvPr id="17" name="Straight Connector 25">
              <a:extLst>
                <a:ext uri="{FF2B5EF4-FFF2-40B4-BE49-F238E27FC236}">
                  <a16:creationId xmlns:a16="http://schemas.microsoft.com/office/drawing/2014/main" id="{2AD08DC3-791C-1376-26F0-DA6213141D16}"/>
                </a:ext>
              </a:extLst>
            </p:cNvPr>
            <p:cNvCxnSpPr/>
            <p:nvPr/>
          </p:nvCxnSpPr>
          <p:spPr>
            <a:xfrm>
              <a:off x="5047901" y="772414"/>
              <a:ext cx="381000" cy="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9130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DFA79-DC2A-2293-0F79-6454BF352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190CFEC2-9262-3FAD-06BD-CBB34253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237" y="600586"/>
            <a:ext cx="5735320" cy="1142048"/>
          </a:xfrm>
        </p:spPr>
        <p:txBody>
          <a:bodyPr>
            <a:normAutofit/>
          </a:bodyPr>
          <a:lstStyle/>
          <a:p>
            <a:r>
              <a:rPr lang="en-US"/>
              <a:t>Checkpoint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10" name="Marcador de texto vertical 2">
            <a:extLst>
              <a:ext uri="{FF2B5EF4-FFF2-40B4-BE49-F238E27FC236}">
                <a16:creationId xmlns:a16="http://schemas.microsoft.com/office/drawing/2014/main" id="{D063118C-E5B0-3015-6311-E4BB10EF34A6}"/>
              </a:ext>
            </a:extLst>
          </p:cNvPr>
          <p:cNvSpPr txBox="1">
            <a:spLocks/>
          </p:cNvSpPr>
          <p:nvPr/>
        </p:nvSpPr>
        <p:spPr>
          <a:xfrm>
            <a:off x="2137055" y="2264861"/>
            <a:ext cx="7336729" cy="3555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/>
              <a:t>Profile: an onboarding assistant that cuts document onboarding from ~3 days to 1–1.5 days</a:t>
            </a:r>
          </a:p>
          <a:p>
            <a:pPr>
              <a:lnSpc>
                <a:spcPct val="150000"/>
              </a:lnSpc>
            </a:pPr>
            <a:r>
              <a:rPr lang="en-US" sz="1400"/>
              <a:t>Capabilities: 9 Must, 5 Should and 4 Could, each with an owner agent and a human checkpoint</a:t>
            </a:r>
          </a:p>
          <a:p>
            <a:pPr>
              <a:lnSpc>
                <a:spcPct val="150000"/>
              </a:lnSpc>
            </a:pPr>
            <a:r>
              <a:rPr lang="en-US" sz="1400"/>
              <a:t>MVP scope: intake, validation, package and approval, with simulated actions</a:t>
            </a:r>
          </a:p>
          <a:p>
            <a:pPr>
              <a:lnSpc>
                <a:spcPct val="150000"/>
              </a:lnSpc>
            </a:pPr>
            <a:r>
              <a:rPr lang="en-US" sz="1400"/>
              <a:t>Process: validation moves from the end to the start of onboarding</a:t>
            </a:r>
          </a:p>
          <a:p>
            <a:pPr>
              <a:lnSpc>
                <a:spcPct val="150000"/>
              </a:lnSpc>
            </a:pPr>
            <a:r>
              <a:rPr lang="en-US" sz="1400"/>
              <a:t>Solution: one Coworker for the user; an orchestrator and specialized agents inside</a:t>
            </a:r>
          </a:p>
          <a:p>
            <a:pPr>
              <a:lnSpc>
                <a:spcPct val="150000"/>
              </a:lnSpc>
            </a:pPr>
            <a:r>
              <a:rPr lang="en-US" sz="1400"/>
              <a:t>Integrations: local web app; JobDiva, IT, equipment and payroll simulated</a:t>
            </a:r>
          </a:p>
          <a:p>
            <a:pPr>
              <a:lnSpc>
                <a:spcPct val="150000"/>
              </a:lnSpc>
            </a:pPr>
            <a:r>
              <a:rPr lang="en-US" sz="1400"/>
              <a:t>Governance: seven human checkpoints, 12 acceptance criteria and an 8-day plan</a:t>
            </a:r>
          </a:p>
        </p:txBody>
      </p:sp>
      <p:grpSp>
        <p:nvGrpSpPr>
          <p:cNvPr id="11" name="Group 26">
            <a:extLst>
              <a:ext uri="{FF2B5EF4-FFF2-40B4-BE49-F238E27FC236}">
                <a16:creationId xmlns:a16="http://schemas.microsoft.com/office/drawing/2014/main" id="{3A6EF1DA-FEC5-A249-C297-414A420A5455}"/>
              </a:ext>
            </a:extLst>
          </p:cNvPr>
          <p:cNvGrpSpPr/>
          <p:nvPr/>
        </p:nvGrpSpPr>
        <p:grpSpPr>
          <a:xfrm>
            <a:off x="2376564" y="1686364"/>
            <a:ext cx="4749561" cy="294632"/>
            <a:chOff x="5047901" y="614826"/>
            <a:chExt cx="4749561" cy="294632"/>
          </a:xfrm>
        </p:grpSpPr>
        <p:sp>
          <p:nvSpPr>
            <p:cNvPr id="12" name="TextBox 24">
              <a:extLst>
                <a:ext uri="{FF2B5EF4-FFF2-40B4-BE49-F238E27FC236}">
                  <a16:creationId xmlns:a16="http://schemas.microsoft.com/office/drawing/2014/main" id="{07B3DB1B-E43F-37B0-8350-DDE2C0DC5532}"/>
                </a:ext>
              </a:extLst>
            </p:cNvPr>
            <p:cNvSpPr txBox="1"/>
            <p:nvPr/>
          </p:nvSpPr>
          <p:spPr>
            <a:xfrm>
              <a:off x="5534459" y="614826"/>
              <a:ext cx="4263003" cy="294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CO" sz="1000" spc="300">
                  <a:latin typeface="+mn-lt"/>
                  <a:ea typeface="Inter" panose="02000503000000020004" pitchFamily="2" charset="0"/>
                  <a:cs typeface="Sora" pitchFamily="2" charset="0"/>
                </a:rPr>
                <a:t>PARTIAL DELIVERABLE OCT 14th</a:t>
              </a:r>
              <a:endParaRPr lang="en-ID" sz="1000" spc="300">
                <a:latin typeface="+mn-lt"/>
                <a:ea typeface="Inter" panose="02000503000000020004" pitchFamily="2" charset="0"/>
                <a:cs typeface="Sora" pitchFamily="2" charset="0"/>
              </a:endParaRPr>
            </a:p>
          </p:txBody>
        </p:sp>
        <p:cxnSp>
          <p:nvCxnSpPr>
            <p:cNvPr id="13" name="Straight Connector 25">
              <a:extLst>
                <a:ext uri="{FF2B5EF4-FFF2-40B4-BE49-F238E27FC236}">
                  <a16:creationId xmlns:a16="http://schemas.microsoft.com/office/drawing/2014/main" id="{1A700905-71BF-7E9C-9B11-9A92D6757ECE}"/>
                </a:ext>
              </a:extLst>
            </p:cNvPr>
            <p:cNvCxnSpPr/>
            <p:nvPr/>
          </p:nvCxnSpPr>
          <p:spPr>
            <a:xfrm>
              <a:off x="5047901" y="772414"/>
              <a:ext cx="381000" cy="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0431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16B12B12-7C81-144A-4C48-8FF162D2C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521"/>
            <a:ext cx="3256280" cy="1142048"/>
          </a:xfrm>
        </p:spPr>
        <p:txBody>
          <a:bodyPr>
            <a:normAutofit fontScale="90000"/>
          </a:bodyPr>
          <a:lstStyle/>
          <a:p>
            <a:r>
              <a:rPr lang="es-CO"/>
              <a:t>PROBLEM &amp; </a:t>
            </a:r>
            <a:r>
              <a:rPr lang="es-CO">
                <a:solidFill>
                  <a:schemeClr val="accent3"/>
                </a:solidFill>
              </a:rPr>
              <a:t>TARGETS</a:t>
            </a:r>
            <a:endParaRPr lang="en-US">
              <a:solidFill>
                <a:schemeClr val="accent3"/>
              </a:solidFill>
            </a:endParaRPr>
          </a:p>
        </p:txBody>
      </p:sp>
      <p:grpSp>
        <p:nvGrpSpPr>
          <p:cNvPr id="12" name="Group 26">
            <a:extLst>
              <a:ext uri="{FF2B5EF4-FFF2-40B4-BE49-F238E27FC236}">
                <a16:creationId xmlns:a16="http://schemas.microsoft.com/office/drawing/2014/main" id="{DA6147C8-35C0-DBA7-13D3-B68BB299DECA}"/>
              </a:ext>
            </a:extLst>
          </p:cNvPr>
          <p:cNvGrpSpPr/>
          <p:nvPr/>
        </p:nvGrpSpPr>
        <p:grpSpPr>
          <a:xfrm>
            <a:off x="907527" y="1565028"/>
            <a:ext cx="4749561" cy="294632"/>
            <a:chOff x="5047901" y="614826"/>
            <a:chExt cx="4749561" cy="294632"/>
          </a:xfrm>
        </p:grpSpPr>
        <p:sp>
          <p:nvSpPr>
            <p:cNvPr id="13" name="TextBox 24">
              <a:extLst>
                <a:ext uri="{FF2B5EF4-FFF2-40B4-BE49-F238E27FC236}">
                  <a16:creationId xmlns:a16="http://schemas.microsoft.com/office/drawing/2014/main" id="{DCD53944-26FA-9E40-2D0E-B4715796DE41}"/>
                </a:ext>
              </a:extLst>
            </p:cNvPr>
            <p:cNvSpPr txBox="1"/>
            <p:nvPr/>
          </p:nvSpPr>
          <p:spPr>
            <a:xfrm>
              <a:off x="5534459" y="614826"/>
              <a:ext cx="4263003" cy="294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CO" sz="1000" spc="300">
                  <a:latin typeface="+mn-lt"/>
                  <a:ea typeface="Inter" panose="02000503000000020004" pitchFamily="2" charset="0"/>
                  <a:cs typeface="Sora" pitchFamily="2" charset="0"/>
                </a:rPr>
                <a:t>BUSINESS OUTCOME</a:t>
              </a:r>
              <a:endParaRPr lang="en-ID" sz="1000" spc="300">
                <a:latin typeface="+mn-lt"/>
                <a:ea typeface="Inter" panose="02000503000000020004" pitchFamily="2" charset="0"/>
                <a:cs typeface="Sora" pitchFamily="2" charset="0"/>
              </a:endParaRPr>
            </a:p>
          </p:txBody>
        </p:sp>
        <p:cxnSp>
          <p:nvCxnSpPr>
            <p:cNvPr id="14" name="Straight Connector 25">
              <a:extLst>
                <a:ext uri="{FF2B5EF4-FFF2-40B4-BE49-F238E27FC236}">
                  <a16:creationId xmlns:a16="http://schemas.microsoft.com/office/drawing/2014/main" id="{C559EA91-B146-2BF1-F17E-3389EEB19CFB}"/>
                </a:ext>
              </a:extLst>
            </p:cNvPr>
            <p:cNvCxnSpPr/>
            <p:nvPr/>
          </p:nvCxnSpPr>
          <p:spPr>
            <a:xfrm>
              <a:off x="5047901" y="772414"/>
              <a:ext cx="381000" cy="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B722CF2-F15C-561E-2167-01070E3469B1}"/>
              </a:ext>
            </a:extLst>
          </p:cNvPr>
          <p:cNvSpPr/>
          <p:nvPr/>
        </p:nvSpPr>
        <p:spPr>
          <a:xfrm>
            <a:off x="346107" y="2048490"/>
            <a:ext cx="3524854" cy="37227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F6F87E6-D209-74AC-6936-68BD94F4BFE4}"/>
              </a:ext>
            </a:extLst>
          </p:cNvPr>
          <p:cNvSpPr/>
          <p:nvPr/>
        </p:nvSpPr>
        <p:spPr>
          <a:xfrm>
            <a:off x="4094480" y="2048491"/>
            <a:ext cx="3561827" cy="372272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0395538-41C4-6312-4338-C22B81CE137D}"/>
              </a:ext>
            </a:extLst>
          </p:cNvPr>
          <p:cNvSpPr/>
          <p:nvPr/>
        </p:nvSpPr>
        <p:spPr>
          <a:xfrm>
            <a:off x="7874002" y="2048490"/>
            <a:ext cx="3561827" cy="3722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rcador de texto vertical 2">
            <a:extLst>
              <a:ext uri="{FF2B5EF4-FFF2-40B4-BE49-F238E27FC236}">
                <a16:creationId xmlns:a16="http://schemas.microsoft.com/office/drawing/2014/main" id="{702CF481-3112-654A-9845-5F61C9659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869320" y="2155788"/>
            <a:ext cx="3558888" cy="36075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>
                <a:solidFill>
                  <a:schemeClr val="bg1"/>
                </a:solidFill>
              </a:rPr>
              <a:t>Principle</a:t>
            </a:r>
          </a:p>
          <a:p>
            <a:pPr>
              <a:lnSpc>
                <a:spcPct val="100000"/>
              </a:lnSpc>
            </a:pPr>
            <a:r>
              <a:rPr lang="en-US" sz="1500">
                <a:solidFill>
                  <a:schemeClr val="bg1"/>
                </a:solidFill>
              </a:rPr>
              <a:t>One Coworker for recruiters and the Onboarding Team</a:t>
            </a:r>
          </a:p>
          <a:p>
            <a:pPr>
              <a:lnSpc>
                <a:spcPct val="100000"/>
              </a:lnSpc>
            </a:pPr>
            <a:r>
              <a:rPr lang="en-US" sz="1500">
                <a:solidFill>
                  <a:schemeClr val="bg1"/>
                </a:solidFill>
              </a:rPr>
              <a:t>It chases, reminds and prepares</a:t>
            </a:r>
          </a:p>
          <a:p>
            <a:pPr>
              <a:lnSpc>
                <a:spcPct val="100000"/>
              </a:lnSpc>
            </a:pPr>
            <a:r>
              <a:rPr lang="en-US" sz="1500">
                <a:solidFill>
                  <a:schemeClr val="bg1"/>
                </a:solidFill>
              </a:rPr>
              <a:t>People decide and approve</a:t>
            </a:r>
          </a:p>
          <a:p>
            <a:pPr>
              <a:lnSpc>
                <a:spcPct val="100000"/>
              </a:lnSpc>
            </a:pPr>
            <a:r>
              <a:rPr lang="en-US" sz="1500">
                <a:solidFill>
                  <a:schemeClr val="bg1"/>
                </a:solidFill>
              </a:rPr>
              <a:t>Tonya Ramirez approves every package</a:t>
            </a:r>
            <a:endParaRPr lang="en-US" sz="1500">
              <a:solidFill>
                <a:schemeClr val="bg1"/>
              </a:solidFill>
              <a:cs typeface="Arial"/>
            </a:endParaRPr>
          </a:p>
        </p:txBody>
      </p:sp>
      <p:sp>
        <p:nvSpPr>
          <p:cNvPr id="23" name="Marcador de texto vertical 2">
            <a:extLst>
              <a:ext uri="{FF2B5EF4-FFF2-40B4-BE49-F238E27FC236}">
                <a16:creationId xmlns:a16="http://schemas.microsoft.com/office/drawing/2014/main" id="{195528D2-72F0-8E07-4756-EDCCFF11CF36}"/>
              </a:ext>
            </a:extLst>
          </p:cNvPr>
          <p:cNvSpPr txBox="1">
            <a:spLocks/>
          </p:cNvSpPr>
          <p:nvPr/>
        </p:nvSpPr>
        <p:spPr>
          <a:xfrm>
            <a:off x="4093689" y="2044505"/>
            <a:ext cx="3549172" cy="37171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b="1">
                <a:solidFill>
                  <a:schemeClr val="bg1"/>
                </a:solidFill>
              </a:rPr>
              <a:t>Targets</a:t>
            </a:r>
          </a:p>
          <a:p>
            <a:pPr>
              <a:lnSpc>
                <a:spcPct val="100000"/>
              </a:lnSpc>
            </a:pPr>
            <a:r>
              <a:rPr lang="en-US" sz="1500">
                <a:solidFill>
                  <a:schemeClr val="bg1"/>
                </a:solidFill>
              </a:rPr>
              <a:t>Document onboarding: ~3 days to 1–1.5 days</a:t>
            </a:r>
          </a:p>
          <a:p>
            <a:pPr>
              <a:lnSpc>
                <a:spcPct val="100000"/>
              </a:lnSpc>
            </a:pPr>
            <a:r>
              <a:rPr lang="en-US" sz="1500">
                <a:solidFill>
                  <a:schemeClr val="bg1"/>
                </a:solidFill>
              </a:rPr>
              <a:t>0 cases reach onboarding with gaps and no alert</a:t>
            </a:r>
          </a:p>
          <a:p>
            <a:pPr>
              <a:lnSpc>
                <a:spcPct val="100000"/>
              </a:lnSpc>
            </a:pPr>
            <a:r>
              <a:rPr lang="en-US" sz="1500">
                <a:solidFill>
                  <a:schemeClr val="bg1"/>
                </a:solidFill>
              </a:rPr>
              <a:t>Package ready 5 minutes after the last answer</a:t>
            </a:r>
          </a:p>
          <a:p>
            <a:pPr>
              <a:lnSpc>
                <a:spcPct val="100000"/>
              </a:lnSpc>
            </a:pPr>
            <a:r>
              <a:rPr lang="en-US" sz="1500">
                <a:solidFill>
                  <a:schemeClr val="bg1"/>
                </a:solidFill>
              </a:rPr>
              <a:t>0 actions without human approval</a:t>
            </a:r>
            <a:endParaRPr lang="en-US" sz="1500">
              <a:solidFill>
                <a:schemeClr val="bg1"/>
              </a:solidFill>
              <a:cs typeface="Arial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D76A335-2AB6-0F4F-5DEE-01CDC55E1B6D}"/>
              </a:ext>
            </a:extLst>
          </p:cNvPr>
          <p:cNvSpPr txBox="1"/>
          <p:nvPr/>
        </p:nvSpPr>
        <p:spPr>
          <a:xfrm>
            <a:off x="4793727" y="529615"/>
            <a:ext cx="6626860" cy="12875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Starts arrive through JobDiva with key fields optional, so onboarding chases data after the fact. The Coworker moves validation to the start.</a:t>
            </a:r>
          </a:p>
        </p:txBody>
      </p:sp>
      <p:sp>
        <p:nvSpPr>
          <p:cNvPr id="2" name="Marcador de texto vertical 2">
            <a:extLst>
              <a:ext uri="{FF2B5EF4-FFF2-40B4-BE49-F238E27FC236}">
                <a16:creationId xmlns:a16="http://schemas.microsoft.com/office/drawing/2014/main" id="{3F00577E-0284-7306-12ED-E0CC77133C1C}"/>
              </a:ext>
            </a:extLst>
          </p:cNvPr>
          <p:cNvSpPr txBox="1">
            <a:spLocks/>
          </p:cNvSpPr>
          <p:nvPr/>
        </p:nvSpPr>
        <p:spPr>
          <a:xfrm>
            <a:off x="347189" y="2044505"/>
            <a:ext cx="3549172" cy="37171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b="1">
                <a:solidFill>
                  <a:schemeClr val="bg1"/>
                </a:solidFill>
              </a:rPr>
              <a:t>Today</a:t>
            </a:r>
          </a:p>
          <a:p>
            <a:pPr>
              <a:lnSpc>
                <a:spcPct val="100000"/>
              </a:lnSpc>
            </a:pPr>
            <a:r>
              <a:rPr lang="en-US" sz="1500">
                <a:solidFill>
                  <a:schemeClr val="bg1"/>
                </a:solidFill>
              </a:rPr>
              <a:t>Start notes are optional and arrive blank</a:t>
            </a:r>
          </a:p>
          <a:p>
            <a:pPr>
              <a:lnSpc>
                <a:spcPct val="100000"/>
              </a:lnSpc>
            </a:pPr>
            <a:r>
              <a:rPr lang="en-US" sz="1500">
                <a:solidFill>
                  <a:schemeClr val="bg1"/>
                </a:solidFill>
              </a:rPr>
              <a:t>Onboarding chases missing data by email</a:t>
            </a:r>
          </a:p>
          <a:p>
            <a:pPr>
              <a:lnSpc>
                <a:spcPct val="100000"/>
              </a:lnSpc>
            </a:pPr>
            <a:r>
              <a:rPr lang="en-US" sz="1500">
                <a:solidFill>
                  <a:schemeClr val="bg1"/>
                </a:solidFill>
              </a:rPr>
              <a:t>Paperwork is picked from memory</a:t>
            </a:r>
          </a:p>
          <a:p>
            <a:pPr>
              <a:lnSpc>
                <a:spcPct val="100000"/>
              </a:lnSpc>
            </a:pPr>
            <a:r>
              <a:rPr lang="en-US" sz="1500">
                <a:solidFill>
                  <a:schemeClr val="bg1"/>
                </a:solidFill>
              </a:rPr>
              <a:t>Payroll reports are reconciled by hand</a:t>
            </a:r>
            <a:endParaRPr lang="en-US" sz="1500">
              <a:solidFill>
                <a:schemeClr val="bg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9600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03FF1-4770-70C2-AF7D-B03A40107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86" y="359764"/>
            <a:ext cx="5608608" cy="778796"/>
          </a:xfrm>
        </p:spPr>
        <p:txBody>
          <a:bodyPr/>
          <a:lstStyle/>
          <a:p>
            <a:r>
              <a:rPr lang="en-US" noProof="0"/>
              <a:t>Priorities</a:t>
            </a:r>
          </a:p>
        </p:txBody>
      </p:sp>
      <p:pic>
        <p:nvPicPr>
          <p:cNvPr id="4" name="Diagram">
            <a:extLst>
              <a:ext uri="{FF2B5EF4-FFF2-40B4-BE49-F238E27FC236}">
                <a16:creationId xmlns:a16="http://schemas.microsoft.com/office/drawing/2014/main" id="{AB7A6E59-245A-AA9E-BB9E-76CD1512F23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270000"/>
            <a:ext cx="7823200" cy="4191000"/>
          </a:xfrm>
          <a:prstGeom prst="rect">
            <a:avLst/>
          </a:prstGeom>
        </p:spPr>
      </p:pic>
      <p:sp>
        <p:nvSpPr>
          <p:cNvPr id="6" name="Panel">
            <a:extLst>
              <a:ext uri="{FF2B5EF4-FFF2-40B4-BE49-F238E27FC236}">
                <a16:creationId xmlns:a16="http://schemas.microsoft.com/office/drawing/2014/main" id="{DDD1691A-E21E-83DC-4107-D9D3C36E9AC5}"/>
              </a:ext>
            </a:extLst>
          </p:cNvPr>
          <p:cNvSpPr txBox="1"/>
          <p:nvPr/>
        </p:nvSpPr>
        <p:spPr>
          <a:xfrm>
            <a:off x="8382000" y="1333500"/>
            <a:ext cx="3238500" cy="21954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800"/>
              </a:spcAft>
            </a:pPr>
            <a:r>
              <a:rPr lang="en-US" sz="2000" b="1">
                <a:solidFill>
                  <a:srgbClr val="FFFFFF"/>
                </a:solidFill>
              </a:rPr>
              <a:t>Demo journeys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</a:rPr>
              <a:t>J1 Intake and validation (Must)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</a:rPr>
              <a:t>J2 Package, approval and actions (Must)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</a:rPr>
              <a:t>J3 Follow-up and payroll handoff (Should)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</a:rPr>
              <a:t>J4 Cultural handoff to IGS (Could)</a:t>
            </a:r>
          </a:p>
        </p:txBody>
      </p:sp>
    </p:spTree>
    <p:extLst>
      <p:ext uri="{BB962C8B-B14F-4D97-AF65-F5344CB8AC3E}">
        <p14:creationId xmlns:p14="http://schemas.microsoft.com/office/powerpoint/2010/main" val="370103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03FF1-4770-70C2-AF7D-B03A40107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86" y="359764"/>
            <a:ext cx="5608608" cy="778796"/>
          </a:xfrm>
        </p:spPr>
        <p:txBody>
          <a:bodyPr/>
          <a:lstStyle/>
          <a:p>
            <a:r>
              <a:rPr lang="en-US" noProof="0"/>
              <a:t>Redesigned process</a:t>
            </a:r>
          </a:p>
        </p:txBody>
      </p:sp>
      <p:pic>
        <p:nvPicPr>
          <p:cNvPr id="4" name="Diagram">
            <a:extLst>
              <a:ext uri="{FF2B5EF4-FFF2-40B4-BE49-F238E27FC236}">
                <a16:creationId xmlns:a16="http://schemas.microsoft.com/office/drawing/2014/main" id="{B7FDE00A-68A7-61E5-37E1-ACE66D217D2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270000"/>
            <a:ext cx="7094352" cy="4254500"/>
          </a:xfrm>
          <a:prstGeom prst="rect">
            <a:avLst/>
          </a:prstGeom>
        </p:spPr>
      </p:pic>
      <p:sp>
        <p:nvSpPr>
          <p:cNvPr id="6" name="Panel">
            <a:extLst>
              <a:ext uri="{FF2B5EF4-FFF2-40B4-BE49-F238E27FC236}">
                <a16:creationId xmlns:a16="http://schemas.microsoft.com/office/drawing/2014/main" id="{B784E42B-A163-3C74-C1F4-710B4F3D8C06}"/>
              </a:ext>
            </a:extLst>
          </p:cNvPr>
          <p:cNvSpPr txBox="1"/>
          <p:nvPr/>
        </p:nvSpPr>
        <p:spPr>
          <a:xfrm>
            <a:off x="7683500" y="1333500"/>
            <a:ext cx="3937000" cy="20928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800"/>
              </a:spcAft>
            </a:pPr>
            <a:r>
              <a:rPr lang="en-US" sz="2000" b="1">
                <a:solidFill>
                  <a:srgbClr val="FFFFFF"/>
                </a:solidFill>
              </a:rPr>
              <a:t>What changes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</a:rPr>
              <a:t>The recruiter fixes only the flagged field, before onboarding steps in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</a:rPr>
              <a:t>One Coworker keeps JobDiva updated at each stage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</a:rPr>
              <a:t>Nothing reaches a system without Tonya’s approval, and IT’s for a laptop</a:t>
            </a:r>
          </a:p>
        </p:txBody>
      </p:sp>
    </p:spTree>
    <p:extLst>
      <p:ext uri="{BB962C8B-B14F-4D97-AF65-F5344CB8AC3E}">
        <p14:creationId xmlns:p14="http://schemas.microsoft.com/office/powerpoint/2010/main" val="4167459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03FF1-4770-70C2-AF7D-B03A40107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86" y="359764"/>
            <a:ext cx="5608608" cy="778796"/>
          </a:xfrm>
        </p:spPr>
        <p:txBody>
          <a:bodyPr/>
          <a:lstStyle/>
          <a:p>
            <a:r>
              <a:rPr lang="en-US" noProof="0"/>
              <a:t>Architecture</a:t>
            </a:r>
          </a:p>
        </p:txBody>
      </p:sp>
      <p:pic>
        <p:nvPicPr>
          <p:cNvPr id="4" name="Diagram">
            <a:extLst>
              <a:ext uri="{FF2B5EF4-FFF2-40B4-BE49-F238E27FC236}">
                <a16:creationId xmlns:a16="http://schemas.microsoft.com/office/drawing/2014/main" id="{F423E648-AFEE-9BE7-FF50-8B05FB248DF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270000"/>
            <a:ext cx="6701376" cy="4318000"/>
          </a:xfrm>
          <a:prstGeom prst="rect">
            <a:avLst/>
          </a:prstGeom>
        </p:spPr>
      </p:pic>
      <p:sp>
        <p:nvSpPr>
          <p:cNvPr id="6" name="Panel">
            <a:extLst>
              <a:ext uri="{FF2B5EF4-FFF2-40B4-BE49-F238E27FC236}">
                <a16:creationId xmlns:a16="http://schemas.microsoft.com/office/drawing/2014/main" id="{E6BE7078-1AAA-2F71-1419-FC3CEA2C4053}"/>
              </a:ext>
            </a:extLst>
          </p:cNvPr>
          <p:cNvSpPr txBox="1"/>
          <p:nvPr/>
        </p:nvSpPr>
        <p:spPr>
          <a:xfrm>
            <a:off x="7429500" y="1333500"/>
            <a:ext cx="4191000" cy="25545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800"/>
              </a:spcAft>
            </a:pPr>
            <a:r>
              <a:rPr lang="en-US" sz="2000" b="1">
                <a:solidFill>
                  <a:srgbClr val="FFFFFF"/>
                </a:solidFill>
              </a:rPr>
              <a:t>Agents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</a:rPr>
              <a:t>Must: Orchestrator, Intake and Validation, Policy and Case Setup, JobDiva and Workflow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</a:rPr>
              <a:t>Extensions: Access and Equipment, Candidate Follow-up, Knowledge, IGS Culture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</a:rPr>
              <a:t>Only JobDiva and Workflow writes to systems, and only with approval</a:t>
            </a:r>
          </a:p>
        </p:txBody>
      </p:sp>
    </p:spTree>
    <p:extLst>
      <p:ext uri="{BB962C8B-B14F-4D97-AF65-F5344CB8AC3E}">
        <p14:creationId xmlns:p14="http://schemas.microsoft.com/office/powerpoint/2010/main" val="3043359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03FF1-4770-70C2-AF7D-B03A40107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186" y="359764"/>
            <a:ext cx="5608608" cy="778796"/>
          </a:xfrm>
        </p:spPr>
        <p:txBody>
          <a:bodyPr/>
          <a:lstStyle/>
          <a:p>
            <a:r>
              <a:rPr lang="en-US" noProof="0"/>
              <a:t>Prototype and JobDiva</a:t>
            </a:r>
          </a:p>
        </p:txBody>
      </p:sp>
      <p:pic>
        <p:nvPicPr>
          <p:cNvPr id="4" name="Diagram">
            <a:extLst>
              <a:ext uri="{FF2B5EF4-FFF2-40B4-BE49-F238E27FC236}">
                <a16:creationId xmlns:a16="http://schemas.microsoft.com/office/drawing/2014/main" id="{1F923835-B693-3CED-1938-630DBEBC926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270000"/>
            <a:ext cx="7219758" cy="4254500"/>
          </a:xfrm>
          <a:prstGeom prst="rect">
            <a:avLst/>
          </a:prstGeom>
        </p:spPr>
      </p:pic>
      <p:sp>
        <p:nvSpPr>
          <p:cNvPr id="6" name="Panel">
            <a:extLst>
              <a:ext uri="{FF2B5EF4-FFF2-40B4-BE49-F238E27FC236}">
                <a16:creationId xmlns:a16="http://schemas.microsoft.com/office/drawing/2014/main" id="{4458FEE2-D58B-1C91-2A33-BF9F0B9E9457}"/>
              </a:ext>
            </a:extLst>
          </p:cNvPr>
          <p:cNvSpPr txBox="1"/>
          <p:nvPr/>
        </p:nvSpPr>
        <p:spPr>
          <a:xfrm>
            <a:off x="7810500" y="1333500"/>
            <a:ext cx="3810000" cy="26571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7800" indent="-177800">
              <a:spcAft>
                <a:spcPts val="800"/>
              </a:spcAft>
            </a:pPr>
            <a:r>
              <a:rPr lang="en-US" sz="2000" b="1">
                <a:solidFill>
                  <a:srgbClr val="FFFFFF"/>
                </a:solidFill>
              </a:rPr>
              <a:t>JobDiva integration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</a:rPr>
              <a:t>Mock by default; sandbox read-only if API credentials arrive by October 16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</a:rPr>
              <a:t>Client ID, API user and password return a token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</a:rPr>
              <a:t>Secrets in a local .env; the repo ships .env.example</a:t>
            </a:r>
          </a:p>
          <a:p>
            <a:pPr marL="177800" indent="-177800">
              <a:spcAft>
                <a:spcPts val="800"/>
              </a:spcAft>
              <a:buFont typeface="+mj-lt"/>
              <a:buChar char="•"/>
            </a:pPr>
            <a:r>
              <a:rPr lang="en-US" sz="1500">
                <a:solidFill>
                  <a:srgbClr val="FFFFFF"/>
                </a:solidFill>
              </a:rPr>
              <a:t>Teams is optional, only with tenant permissions</a:t>
            </a:r>
          </a:p>
        </p:txBody>
      </p:sp>
    </p:spTree>
    <p:extLst>
      <p:ext uri="{BB962C8B-B14F-4D97-AF65-F5344CB8AC3E}">
        <p14:creationId xmlns:p14="http://schemas.microsoft.com/office/powerpoint/2010/main" val="3956843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7033E-4496-8D9E-AE77-A14367D93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28FE1D97-CCF2-8656-5D57-81CC8233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2868"/>
            <a:ext cx="5735320" cy="1142048"/>
          </a:xfrm>
        </p:spPr>
        <p:txBody>
          <a:bodyPr>
            <a:normAutofit/>
          </a:bodyPr>
          <a:lstStyle/>
          <a:p>
            <a:r>
              <a:rPr lang="en-US"/>
              <a:t>Human Control</a:t>
            </a:r>
            <a:endParaRPr lang="en-US">
              <a:solidFill>
                <a:schemeClr val="accent3"/>
              </a:solidFill>
            </a:endParaRPr>
          </a:p>
        </p:txBody>
      </p:sp>
      <p:grpSp>
        <p:nvGrpSpPr>
          <p:cNvPr id="11" name="Group 26">
            <a:extLst>
              <a:ext uri="{FF2B5EF4-FFF2-40B4-BE49-F238E27FC236}">
                <a16:creationId xmlns:a16="http://schemas.microsoft.com/office/drawing/2014/main" id="{C345E4C5-B66C-F0C6-08A7-0F24FA1D1C03}"/>
              </a:ext>
            </a:extLst>
          </p:cNvPr>
          <p:cNvGrpSpPr/>
          <p:nvPr/>
        </p:nvGrpSpPr>
        <p:grpSpPr>
          <a:xfrm>
            <a:off x="907527" y="2468646"/>
            <a:ext cx="4749561" cy="294632"/>
            <a:chOff x="5047901" y="614826"/>
            <a:chExt cx="4749561" cy="294632"/>
          </a:xfrm>
        </p:grpSpPr>
        <p:sp>
          <p:nvSpPr>
            <p:cNvPr id="12" name="TextBox 24">
              <a:extLst>
                <a:ext uri="{FF2B5EF4-FFF2-40B4-BE49-F238E27FC236}">
                  <a16:creationId xmlns:a16="http://schemas.microsoft.com/office/drawing/2014/main" id="{8EA0260C-8B5E-B194-F975-71911F0AF811}"/>
                </a:ext>
              </a:extLst>
            </p:cNvPr>
            <p:cNvSpPr txBox="1"/>
            <p:nvPr/>
          </p:nvSpPr>
          <p:spPr>
            <a:xfrm>
              <a:off x="5534459" y="614826"/>
              <a:ext cx="4263003" cy="2946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CO" sz="1000" spc="300">
                  <a:ea typeface="Inter" panose="02000503000000020004" pitchFamily="2" charset="0"/>
                  <a:cs typeface="Sora" pitchFamily="2" charset="0"/>
                </a:rPr>
                <a:t>GOVERNANCE</a:t>
              </a:r>
              <a:endParaRPr lang="en-ID" sz="1000" spc="300">
                <a:latin typeface="+mn-lt"/>
                <a:ea typeface="Inter" panose="02000503000000020004" pitchFamily="2" charset="0"/>
                <a:cs typeface="Sora" pitchFamily="2" charset="0"/>
              </a:endParaRPr>
            </a:p>
          </p:txBody>
        </p:sp>
        <p:cxnSp>
          <p:nvCxnSpPr>
            <p:cNvPr id="13" name="Straight Connector 25">
              <a:extLst>
                <a:ext uri="{FF2B5EF4-FFF2-40B4-BE49-F238E27FC236}">
                  <a16:creationId xmlns:a16="http://schemas.microsoft.com/office/drawing/2014/main" id="{02D326CE-80F4-F991-0E54-91878E9CCD60}"/>
                </a:ext>
              </a:extLst>
            </p:cNvPr>
            <p:cNvCxnSpPr/>
            <p:nvPr/>
          </p:nvCxnSpPr>
          <p:spPr>
            <a:xfrm>
              <a:off x="5047901" y="772414"/>
              <a:ext cx="381000" cy="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CDCDAD2-8512-6A13-75C4-A321E9E77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67194"/>
              </p:ext>
            </p:extLst>
          </p:nvPr>
        </p:nvGraphicFramePr>
        <p:xfrm>
          <a:off x="398072" y="2983181"/>
          <a:ext cx="897078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0">
                  <a:extLst>
                    <a:ext uri="{9D8B030D-6E8A-4147-A177-3AD203B41FA5}">
                      <a16:colId xmlns:a16="http://schemas.microsoft.com/office/drawing/2014/main" val="586028024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861101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Human checkpoint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/>
                        <a:t>Who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025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Corrects the flagged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noProof="0"/>
                        <a:t>Recruiter</a:t>
                      </a:r>
                      <a:endParaRPr lang="en-US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618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Confirms the case and resolves escalations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Onboarding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259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Approves the onboarding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Tonya Ramirez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59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Approves the 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690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Approves the payroll handoff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Onboarding 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343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Approves the welcome kit and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LDC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08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Validates new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Right person for the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210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9060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D1E19-0C12-BF77-1A34-9DD97CF7A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632" y="1146748"/>
            <a:ext cx="5608608" cy="779731"/>
          </a:xfrm>
        </p:spPr>
        <p:txBody>
          <a:bodyPr/>
          <a:lstStyle/>
          <a:p>
            <a:r>
              <a:rPr lang="en-US" noProof="0"/>
              <a:t>Plan to October 22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7A9D01-17C3-3527-755B-64D83063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01979" y="2354827"/>
            <a:ext cx="7030387" cy="335642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200" noProof="0"/>
              <a:t>Oct 14: Checkpoint (design and scope)</a:t>
            </a:r>
          </a:p>
          <a:p>
            <a:pPr>
              <a:lnSpc>
                <a:spcPct val="100000"/>
              </a:lnSpc>
            </a:pPr>
            <a:r>
              <a:rPr lang="en-US" sz="2200" noProof="0"/>
              <a:t>Oct 15–16: Velocity 2.0, repo, seed data, mocks</a:t>
            </a:r>
          </a:p>
          <a:p>
            <a:pPr>
              <a:lnSpc>
                <a:spcPct val="100000"/>
              </a:lnSpc>
            </a:pPr>
            <a:r>
              <a:rPr lang="en-US" sz="2200" noProof="0"/>
              <a:t>Oct 17–20: Journeys J1 and J2 (Must)</a:t>
            </a:r>
          </a:p>
          <a:p>
            <a:pPr>
              <a:lnSpc>
                <a:spcPct val="100000"/>
              </a:lnSpc>
            </a:pPr>
            <a:r>
              <a:rPr lang="en-US" sz="2200" noProof="0"/>
              <a:t>Oct 19–20: Extensions, only if Must is stable</a:t>
            </a:r>
          </a:p>
          <a:p>
            <a:pPr>
              <a:lnSpc>
                <a:spcPct val="100000"/>
              </a:lnSpc>
            </a:pPr>
            <a:r>
              <a:rPr lang="en-US" sz="2200" noProof="0"/>
              <a:t>Oct 21–22: Tests, README, presentation, video</a:t>
            </a:r>
          </a:p>
          <a:p>
            <a:pPr>
              <a:lnSpc>
                <a:spcPct val="100000"/>
              </a:lnSpc>
            </a:pPr>
            <a:r>
              <a:rPr lang="en-US" sz="2200" noProof="0"/>
              <a:t>Oct 22: Final submission</a:t>
            </a:r>
            <a:endParaRPr lang="en-US" sz="2200" noProof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782577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Movers And Shakers 2026B">
      <a:dk1>
        <a:srgbClr val="111D4A"/>
      </a:dk1>
      <a:lt1>
        <a:sysClr val="window" lastClr="FFFFFF"/>
      </a:lt1>
      <a:dk2>
        <a:srgbClr val="111D4A"/>
      </a:dk2>
      <a:lt2>
        <a:srgbClr val="E8E8E8"/>
      </a:lt2>
      <a:accent1>
        <a:srgbClr val="111D4A"/>
      </a:accent1>
      <a:accent2>
        <a:srgbClr val="58B8DA"/>
      </a:accent2>
      <a:accent3>
        <a:srgbClr val="ED1C24"/>
      </a:accent3>
      <a:accent4>
        <a:srgbClr val="AEB8C6"/>
      </a:accent4>
      <a:accent5>
        <a:srgbClr val="0068FF"/>
      </a:accent5>
      <a:accent6>
        <a:srgbClr val="00A5EB"/>
      </a:accent6>
      <a:hlink>
        <a:srgbClr val="091255"/>
      </a:hlink>
      <a:folHlink>
        <a:srgbClr val="5F5E66"/>
      </a:folHlink>
    </a:clrScheme>
    <a:fontScheme name="Personalizado 2">
      <a:majorFont>
        <a:latin typeface="Roboto Condense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30a55d4-ce40-4642-bcc2-8ffe58d02267" xsi:nil="true"/>
    <lcf76f155ced4ddcb4097134ff3c332f xmlns="d42455b2-cc75-492f-9db1-d2abf3a00e8d">
      <Terms xmlns="http://schemas.microsoft.com/office/infopath/2007/PartnerControls"/>
    </lcf76f155ced4ddcb4097134ff3c332f>
    <Image xmlns="d42455b2-cc75-492f-9db1-d2abf3a00e8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0E1FED9AEEC942B87F1BB09145DA33" ma:contentTypeVersion="16" ma:contentTypeDescription="Create a new document." ma:contentTypeScope="" ma:versionID="247f4ffdd0800569d5e6752aa16df653">
  <xsd:schema xmlns:xsd="http://www.w3.org/2001/XMLSchema" xmlns:xs="http://www.w3.org/2001/XMLSchema" xmlns:p="http://schemas.microsoft.com/office/2006/metadata/properties" xmlns:ns2="d42455b2-cc75-492f-9db1-d2abf3a00e8d" xmlns:ns3="b30a55d4-ce40-4642-bcc2-8ffe58d02267" targetNamespace="http://schemas.microsoft.com/office/2006/metadata/properties" ma:root="true" ma:fieldsID="1c5c0b00ba887c7575fd668a719c2eaf" ns2:_="" ns3:_="">
    <xsd:import namespace="d42455b2-cc75-492f-9db1-d2abf3a00e8d"/>
    <xsd:import namespace="b30a55d4-ce40-4642-bcc2-8ffe58d022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BillingMetadata" minOccurs="0"/>
                <xsd:element ref="ns2:Im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2455b2-cc75-492f-9db1-d2abf3a00e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5b8c1e9-d6c3-4128-803f-e14e6ca0d2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Image" ma:index="23" nillable="true" ma:displayName="Image" ma:format="Thumbnail" ma:internalName="Imag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a55d4-ce40-4642-bcc2-8ffe58d0226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e859b10-5808-4dbb-8b9b-ae9366046041}" ma:internalName="TaxCatchAll" ma:showField="CatchAllData" ma:web="b30a55d4-ce40-4642-bcc2-8ffe58d022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F91EA2-42ED-494B-9000-457C0627E755}">
  <ds:schemaRefs>
    <ds:schemaRef ds:uri="http://schemas.microsoft.com/office/2006/documentManagement/types"/>
    <ds:schemaRef ds:uri="http://www.w3.org/XML/1998/namespace"/>
    <ds:schemaRef ds:uri="b30a55d4-ce40-4642-bcc2-8ffe58d02267"/>
    <ds:schemaRef ds:uri="http://purl.org/dc/dcmitype/"/>
    <ds:schemaRef ds:uri="http://schemas.openxmlformats.org/package/2006/metadata/core-properties"/>
    <ds:schemaRef ds:uri="d42455b2-cc75-492f-9db1-d2abf3a00e8d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C9595E9-2E2A-43CA-8555-676D0BB2A69E}">
  <ds:schemaRefs>
    <ds:schemaRef ds:uri="b30a55d4-ce40-4642-bcc2-8ffe58d02267"/>
    <ds:schemaRef ds:uri="d42455b2-cc75-492f-9db1-d2abf3a00e8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2074889-A8DB-4D9B-A567-D902549468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814</Words>
  <Application>Microsoft Office PowerPoint</Application>
  <PresentationFormat>Widescreen</PresentationFormat>
  <Paragraphs>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Inter</vt:lpstr>
      <vt:lpstr>Roboto Condensed</vt:lpstr>
      <vt:lpstr>Tema de Office</vt:lpstr>
      <vt:lpstr>Onboarding Coworker</vt:lpstr>
      <vt:lpstr>Checkpoint</vt:lpstr>
      <vt:lpstr>PROBLEM &amp; TARGETS</vt:lpstr>
      <vt:lpstr>Priorities</vt:lpstr>
      <vt:lpstr>Redesigned process</vt:lpstr>
      <vt:lpstr>Architecture</vt:lpstr>
      <vt:lpstr>Prototype and JobDiva</vt:lpstr>
      <vt:lpstr>Human Control</vt:lpstr>
      <vt:lpstr>Plan to October 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Carolyn Lizeth Marmol Santiago</dc:creator>
  <cp:lastModifiedBy>Juan Carlos Giron Salazar</cp:lastModifiedBy>
  <cp:revision>22</cp:revision>
  <dcterms:created xsi:type="dcterms:W3CDTF">2026-09-02T18:59:58Z</dcterms:created>
  <dcterms:modified xsi:type="dcterms:W3CDTF">2026-10-15T03:44:47Z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0x010100760E1FED9AEEC942B87F1BB09145DA33</vt:lpwstr>
  </property>
  <property fmtid="{D5CDD505-2E9C-101B-9397-08002B2CF9AE}" pid="3" name="MediaServiceImageTags">
    <vt:lpwstr/>
  </property>
</Properties>
</file>